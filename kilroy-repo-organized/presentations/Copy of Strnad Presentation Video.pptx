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gK3SF7p1UZuwsjQpmMjniAdEDa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437b68f842_1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2437b68f842_1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437b68f842_1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2437b68f842_1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437b68f842_1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g2437b68f842_1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437b68f842_1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g2437b68f842_1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437b68f842_1_1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g2437b68f842_1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437b68f842_1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g2437b68f842_1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2f8667e090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g22f8667e090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8.jp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9.jp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11.jp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Relationship Id="rId4" Type="http://schemas.openxmlformats.org/officeDocument/2006/relationships/image" Target="../media/image27.jpg"/><Relationship Id="rId5" Type="http://schemas.openxmlformats.org/officeDocument/2006/relationships/image" Target="../media/image18.jpg"/><Relationship Id="rId6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26.jp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jpg"/><Relationship Id="rId4" Type="http://schemas.openxmlformats.org/officeDocument/2006/relationships/image" Target="../media/image29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jp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jpg"/><Relationship Id="rId4" Type="http://schemas.openxmlformats.org/officeDocument/2006/relationships/image" Target="../media/image29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jp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jpg"/><Relationship Id="rId4" Type="http://schemas.openxmlformats.org/officeDocument/2006/relationships/image" Target="../media/image29.png"/><Relationship Id="rId5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jp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jpg"/><Relationship Id="rId4" Type="http://schemas.openxmlformats.org/officeDocument/2006/relationships/image" Target="../media/image29.png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jp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19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3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3">
            <a:alphaModFix/>
          </a:blip>
          <a:srcRect b="-3308" l="17562" r="11247" t="9163"/>
          <a:stretch/>
        </p:blipFill>
        <p:spPr>
          <a:xfrm>
            <a:off x="2681425" y="0"/>
            <a:ext cx="9510575" cy="709277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529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>
            <p:ph type="ctrTitle"/>
          </p:nvPr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4400"/>
              <a:t>Strnad Presentation: Lake Kilroy Buoy and Water Quality Project</a:t>
            </a:r>
            <a:endParaRPr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477980" y="4872922"/>
            <a:ext cx="4023359" cy="1208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/>
              <a:t>Sam Mathews and Vir Patel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477980" y="625683"/>
            <a:ext cx="707137" cy="146305"/>
          </a:xfrm>
          <a:prstGeom prst="rect">
            <a:avLst/>
          </a:prstGeom>
          <a:solidFill>
            <a:srgbClr val="8D2C3C"/>
          </a:solidFill>
          <a:ln cap="flat" cmpd="sng" w="12700">
            <a:solidFill>
              <a:srgbClr val="8D2C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2F5496"/>
              </a:gs>
            </a:gsLst>
            <a:lin ang="197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1F3864">
                  <a:alpha val="67450"/>
                </a:srgbClr>
              </a:gs>
              <a:gs pos="19000">
                <a:srgbClr val="1F3864">
                  <a:alpha val="67450"/>
                </a:srgbClr>
              </a:gs>
              <a:gs pos="100000">
                <a:srgbClr val="4472C4">
                  <a:alpha val="47450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 flipH="1" rot="-5400000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2F5496">
                  <a:alpha val="15294"/>
                </a:srgbClr>
              </a:gs>
              <a:gs pos="23000">
                <a:srgbClr val="2F5496">
                  <a:alpha val="15294"/>
                </a:srgbClr>
              </a:gs>
              <a:gs pos="99000">
                <a:srgbClr val="000000">
                  <a:alpha val="44313"/>
                </a:srgbClr>
              </a:gs>
              <a:gs pos="100000">
                <a:srgbClr val="000000">
                  <a:alpha val="44313"/>
                </a:srgbClr>
              </a:gs>
            </a:gsLst>
            <a:lin ang="210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Overview</a:t>
            </a:r>
            <a:endParaRPr/>
          </a:p>
        </p:txBody>
      </p:sp>
      <p:grpSp>
        <p:nvGrpSpPr>
          <p:cNvPr id="118" name="Google Shape;118;p2"/>
          <p:cNvGrpSpPr/>
          <p:nvPr/>
        </p:nvGrpSpPr>
        <p:grpSpPr>
          <a:xfrm>
            <a:off x="737503" y="2818175"/>
            <a:ext cx="10900978" cy="3285000"/>
            <a:chOff x="93445" y="202202"/>
            <a:chExt cx="10740938" cy="3285000"/>
          </a:xfrm>
        </p:grpSpPr>
        <p:sp>
          <p:nvSpPr>
            <p:cNvPr id="119" name="Google Shape;119;p2"/>
            <p:cNvSpPr/>
            <p:nvPr/>
          </p:nvSpPr>
          <p:spPr>
            <a:xfrm>
              <a:off x="718664" y="202202"/>
              <a:ext cx="1955812" cy="19558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135476" y="619014"/>
              <a:ext cx="1122187" cy="112218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93445" y="27672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93445" y="27672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700"/>
                <a:buFont typeface="Calibri"/>
                <a:buNone/>
              </a:pPr>
              <a:r>
                <a:rPr b="0" i="0" lang="en-US" sz="3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BUOY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486008" y="202202"/>
              <a:ext cx="1955812" cy="19558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4890847" y="633098"/>
              <a:ext cx="1122187" cy="112218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3860789" y="27672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3860789" y="27672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700"/>
                <a:buFont typeface="Calibri"/>
                <a:buNone/>
              </a:pPr>
              <a:r>
                <a:rPr b="0" i="0" lang="en-US" sz="3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WATER QUALITY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8253352" y="202202"/>
              <a:ext cx="1955812" cy="195581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8670164" y="619014"/>
              <a:ext cx="1122187" cy="112218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7628133" y="27672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7628133" y="27672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700"/>
                <a:buFont typeface="Calibri"/>
                <a:buNone/>
              </a:pPr>
              <a:r>
                <a:rPr b="0" i="0" lang="en-US" sz="3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DATA/RESEARCH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1F3864">
                  <a:alpha val="67450"/>
                </a:srgbClr>
              </a:gs>
              <a:gs pos="19000">
                <a:srgbClr val="1F3864">
                  <a:alpha val="67450"/>
                </a:srgbClr>
              </a:gs>
              <a:gs pos="100000">
                <a:srgbClr val="4472C4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3000">
                <a:srgbClr val="4472C4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Buoy</a:t>
            </a:r>
            <a:endParaRPr/>
          </a:p>
        </p:txBody>
      </p:sp>
      <p:grpSp>
        <p:nvGrpSpPr>
          <p:cNvPr id="140" name="Google Shape;140;p3"/>
          <p:cNvGrpSpPr/>
          <p:nvPr/>
        </p:nvGrpSpPr>
        <p:grpSpPr>
          <a:xfrm>
            <a:off x="872163" y="2112579"/>
            <a:ext cx="10471613" cy="4190724"/>
            <a:chOff x="228107" y="0"/>
            <a:chExt cx="10471613" cy="4190724"/>
          </a:xfrm>
        </p:grpSpPr>
        <p:sp>
          <p:nvSpPr>
            <p:cNvPr id="141" name="Google Shape;141;p3"/>
            <p:cNvSpPr/>
            <p:nvPr/>
          </p:nvSpPr>
          <p:spPr>
            <a:xfrm>
              <a:off x="228107" y="2079"/>
              <a:ext cx="4188645" cy="4188645"/>
            </a:xfrm>
            <a:prstGeom prst="ellipse">
              <a:avLst/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"/>
            <p:cNvSpPr txBox="1"/>
            <p:nvPr/>
          </p:nvSpPr>
          <p:spPr>
            <a:xfrm>
              <a:off x="841520" y="615492"/>
              <a:ext cx="2961819" cy="29618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Create a buoy to float on Lake Kilroy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"/>
            <p:cNvSpPr/>
            <p:nvPr/>
          </p:nvSpPr>
          <p:spPr>
            <a:xfrm rot="5400000">
              <a:off x="8334855" y="178017"/>
              <a:ext cx="1466025" cy="1109991"/>
            </a:xfrm>
            <a:prstGeom prst="triangle">
              <a:avLst>
                <a:gd fmla="val 50000" name="adj"/>
              </a:avLst>
            </a:prstGeom>
            <a:solidFill>
              <a:srgbClr val="ABBA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6511075" y="2079"/>
              <a:ext cx="4188645" cy="4188645"/>
            </a:xfrm>
            <a:prstGeom prst="ellipse">
              <a:avLst/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3"/>
            <p:cNvSpPr txBox="1"/>
            <p:nvPr/>
          </p:nvSpPr>
          <p:spPr>
            <a:xfrm>
              <a:off x="7124488" y="615492"/>
              <a:ext cx="2961819" cy="29618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House 2 water quality sensor units at different depths + ESP32 hardware + solar panel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Life ring" id="146" name="Google Shape;146;p3"/>
          <p:cNvSpPr/>
          <p:nvPr/>
        </p:nvSpPr>
        <p:spPr>
          <a:xfrm>
            <a:off x="11108724" y="-1"/>
            <a:ext cx="1080228" cy="101325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1F3864">
                  <a:alpha val="67450"/>
                </a:srgbClr>
              </a:gs>
              <a:gs pos="19000">
                <a:srgbClr val="1F3864">
                  <a:alpha val="67450"/>
                </a:srgbClr>
              </a:gs>
              <a:gs pos="100000">
                <a:srgbClr val="4472C4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3000">
                <a:srgbClr val="4472C4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Water Quality</a:t>
            </a:r>
            <a:endParaRPr/>
          </a:p>
        </p:txBody>
      </p:sp>
      <p:grpSp>
        <p:nvGrpSpPr>
          <p:cNvPr id="156" name="Google Shape;156;p4"/>
          <p:cNvGrpSpPr/>
          <p:nvPr/>
        </p:nvGrpSpPr>
        <p:grpSpPr>
          <a:xfrm>
            <a:off x="1397999" y="2173146"/>
            <a:ext cx="9396000" cy="4087166"/>
            <a:chOff x="1397999" y="597687"/>
            <a:chExt cx="9396000" cy="4087166"/>
          </a:xfrm>
        </p:grpSpPr>
        <p:sp>
          <p:nvSpPr>
            <p:cNvPr id="157" name="Google Shape;157;p4"/>
            <p:cNvSpPr/>
            <p:nvPr/>
          </p:nvSpPr>
          <p:spPr>
            <a:xfrm>
              <a:off x="2381799" y="605912"/>
              <a:ext cx="1944000" cy="1944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1397999" y="3154853"/>
              <a:ext cx="4320000" cy="15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"/>
            <p:cNvSpPr txBox="1"/>
            <p:nvPr/>
          </p:nvSpPr>
          <p:spPr>
            <a:xfrm>
              <a:off x="1397999" y="3154853"/>
              <a:ext cx="4320000" cy="15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 a sensor unit to measure pH, dissolved oxygen, conductivity, and temperature using an Atlas Scientific kit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7661999" y="597687"/>
              <a:ext cx="1944000" cy="1944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6473999" y="3154853"/>
              <a:ext cx="4320000" cy="15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"/>
            <p:cNvSpPr txBox="1"/>
            <p:nvPr/>
          </p:nvSpPr>
          <p:spPr>
            <a:xfrm>
              <a:off x="6473999" y="3154853"/>
              <a:ext cx="4320000" cy="15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 ESP32 microcontrollers to collect the data and upload the data to ThingSpeak so anyone who wants to can have access to the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Water with solid fill" id="163" name="Google Shape;16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4277" y="-16290"/>
            <a:ext cx="967762" cy="96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Data/Research</a:t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159488" y="2866768"/>
            <a:ext cx="9762988" cy="265670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>
            <p:ph idx="1" type="body"/>
          </p:nvPr>
        </p:nvSpPr>
        <p:spPr>
          <a:xfrm>
            <a:off x="283057" y="2313010"/>
            <a:ext cx="10257257" cy="382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US" sz="3000">
                <a:solidFill>
                  <a:schemeClr val="lt1"/>
                </a:solidFill>
              </a:rPr>
              <a:t>Use the data to observe pond turnover in Lake Kilroy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US" sz="3000">
                <a:solidFill>
                  <a:schemeClr val="lt1"/>
                </a:solidFill>
              </a:rPr>
              <a:t>Use data for other classes to help learn about the lake and different statistics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US" sz="3000">
                <a:solidFill>
                  <a:schemeClr val="lt1"/>
                </a:solidFill>
              </a:rPr>
              <a:t>Worked with ecology in the past</a:t>
            </a:r>
            <a:endParaRPr/>
          </a:p>
        </p:txBody>
      </p:sp>
      <p:sp>
        <p:nvSpPr>
          <p:cNvPr descr="Statistics" id="176" name="Google Shape;176;p5"/>
          <p:cNvSpPr/>
          <p:nvPr/>
        </p:nvSpPr>
        <p:spPr>
          <a:xfrm>
            <a:off x="11057612" y="45419"/>
            <a:ext cx="1122187" cy="11221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490"/>
                </a:srgbClr>
              </a:gs>
              <a:gs pos="100000">
                <a:srgbClr val="4472C4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235"/>
                </a:srgbClr>
              </a:gs>
              <a:gs pos="2000">
                <a:srgbClr val="4472C4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 flipH="1" rot="5400000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588"/>
                </a:srgbClr>
              </a:gs>
              <a:gs pos="100000">
                <a:srgbClr val="8DA9DB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>
            <p:ph type="title"/>
          </p:nvPr>
        </p:nvSpPr>
        <p:spPr>
          <a:xfrm>
            <a:off x="311582" y="388642"/>
            <a:ext cx="2844800" cy="3588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General Tasks and Work</a:t>
            </a:r>
            <a:endParaRPr/>
          </a:p>
        </p:txBody>
      </p:sp>
      <p:sp>
        <p:nvSpPr>
          <p:cNvPr id="188" name="Google Shape;188;p6"/>
          <p:cNvSpPr txBox="1"/>
          <p:nvPr>
            <p:ph idx="1" type="body"/>
          </p:nvPr>
        </p:nvSpPr>
        <p:spPr>
          <a:xfrm>
            <a:off x="311582" y="1333152"/>
            <a:ext cx="3290579" cy="5534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We have also established where we will place the buoy (we found the deepest part of Lake Kilroy, so we can get two distinct depths)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We have also construed a contraption to house the ESP32 and measured its range, so we know where to place them</a:t>
            </a:r>
            <a:endParaRPr/>
          </a:p>
        </p:txBody>
      </p:sp>
      <p:pic>
        <p:nvPicPr>
          <p:cNvPr descr="A satellite view of a city&#10;&#10;Description automatically generated with low confidence" id="189" name="Google Shape;1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3192" y="388642"/>
            <a:ext cx="4648908" cy="3719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indoor&#10;&#10;Description automatically generated" id="190" name="Google Shape;19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8362394" y="3209489"/>
            <a:ext cx="2906909" cy="387587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"/>
          <p:cNvSpPr/>
          <p:nvPr/>
        </p:nvSpPr>
        <p:spPr>
          <a:xfrm>
            <a:off x="4473181" y="405076"/>
            <a:ext cx="4648907" cy="3702689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7877909" y="3708285"/>
            <a:ext cx="3895676" cy="2906911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ter with solid fill" id="193" name="Google Shape;19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4277" y="-16290"/>
            <a:ext cx="967762" cy="96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490"/>
                </a:srgbClr>
              </a:gs>
              <a:gs pos="100000">
                <a:srgbClr val="4472C4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235"/>
                </a:srgbClr>
              </a:gs>
              <a:gs pos="2000">
                <a:srgbClr val="4472C4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588"/>
                </a:srgbClr>
              </a:gs>
              <a:gs pos="100000">
                <a:srgbClr val="8DA9DB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>
            <p:ph type="title"/>
          </p:nvPr>
        </p:nvSpPr>
        <p:spPr>
          <a:xfrm>
            <a:off x="209107" y="375840"/>
            <a:ext cx="3619601" cy="2126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Buoy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72253" y="1813203"/>
            <a:ext cx="3965573" cy="3439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construction of the buoy out of PVC pipes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this point the top and bottom halves are glued separately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6933" y="216095"/>
            <a:ext cx="4432300" cy="35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012" y="3283029"/>
            <a:ext cx="4013200" cy="35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>
            <a:off x="4246933" y="216095"/>
            <a:ext cx="4432300" cy="35560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924012" y="3264058"/>
            <a:ext cx="4013200" cy="353271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Life ring" id="211" name="Google Shape;211;p7"/>
          <p:cNvSpPr/>
          <p:nvPr/>
        </p:nvSpPr>
        <p:spPr>
          <a:xfrm>
            <a:off x="11108724" y="-1"/>
            <a:ext cx="1080228" cy="101325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Pictures of Buoy Floating/Spray Paint</a:t>
            </a:r>
            <a:endParaRPr/>
          </a:p>
        </p:txBody>
      </p:sp>
      <p:sp>
        <p:nvSpPr>
          <p:cNvPr id="222" name="Google Shape;222;p8"/>
          <p:cNvSpPr txBox="1"/>
          <p:nvPr>
            <p:ph idx="1" type="body"/>
          </p:nvPr>
        </p:nvSpPr>
        <p:spPr>
          <a:xfrm>
            <a:off x="491116" y="1891970"/>
            <a:ext cx="2835965" cy="4502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Now the buoy is completely glued together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It has a black coated paint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It can also float</a:t>
            </a:r>
            <a:endParaRPr/>
          </a:p>
        </p:txBody>
      </p:sp>
      <p:pic>
        <p:nvPicPr>
          <p:cNvPr descr="A picture containing outdoor&#10;&#10;Description automatically generated" id="223" name="Google Shape;2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383" y="2038435"/>
            <a:ext cx="2294075" cy="4078356"/>
          </a:xfrm>
          <a:prstGeom prst="rect">
            <a:avLst/>
          </a:prstGeom>
          <a:noFill/>
          <a:ln cap="flat" cmpd="sng" w="101600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picture containing wall, indoor, spider, arthropod&#10;&#10;Description automatically generated" id="224" name="Google Shape;22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6569353" y="2548232"/>
            <a:ext cx="4078354" cy="3058766"/>
          </a:xfrm>
          <a:prstGeom prst="rect">
            <a:avLst/>
          </a:prstGeom>
          <a:noFill/>
          <a:ln cap="flat" cmpd="sng" w="101600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descr="Life ring" id="225" name="Google Shape;225;p8"/>
          <p:cNvSpPr/>
          <p:nvPr/>
        </p:nvSpPr>
        <p:spPr>
          <a:xfrm>
            <a:off x="11108724" y="12356"/>
            <a:ext cx="1080228" cy="101325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490"/>
                </a:srgbClr>
              </a:gs>
              <a:gs pos="100000">
                <a:srgbClr val="4472C4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235"/>
                </a:srgbClr>
              </a:gs>
              <a:gs pos="2000">
                <a:srgbClr val="4472C4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 flipH="1" rot="5400000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588"/>
                </a:srgbClr>
              </a:gs>
              <a:gs pos="100000">
                <a:srgbClr val="8DA9DB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 txBox="1"/>
          <p:nvPr>
            <p:ph type="title"/>
          </p:nvPr>
        </p:nvSpPr>
        <p:spPr>
          <a:xfrm>
            <a:off x="190105" y="142389"/>
            <a:ext cx="3163331" cy="12074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Buoy Floating</a:t>
            </a:r>
            <a:endParaRPr/>
          </a:p>
        </p:txBody>
      </p:sp>
      <p:sp>
        <p:nvSpPr>
          <p:cNvPr id="236" name="Google Shape;236;p9"/>
          <p:cNvSpPr txBox="1"/>
          <p:nvPr>
            <p:ph idx="1" type="body"/>
          </p:nvPr>
        </p:nvSpPr>
        <p:spPr>
          <a:xfrm>
            <a:off x="209628" y="2154292"/>
            <a:ext cx="3124284" cy="2417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The Buoy was fully sealed with Caulk and Flex Seal</a:t>
            </a:r>
            <a:endParaRPr sz="2000">
              <a:solidFill>
                <a:schemeClr val="lt1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Pool noodles were attached to the buoy for buoyancy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It floats completely on its own</a:t>
            </a:r>
            <a:endParaRPr/>
          </a:p>
        </p:txBody>
      </p:sp>
      <p:pic>
        <p:nvPicPr>
          <p:cNvPr descr="A picture containing water, tree, outdoor, boat&#10;&#10;Description automatically generated" id="237" name="Google Shape;237;p9"/>
          <p:cNvPicPr preferRelativeResize="0"/>
          <p:nvPr/>
        </p:nvPicPr>
        <p:blipFill rotWithShape="1">
          <a:blip r:embed="rId3">
            <a:alphaModFix/>
          </a:blip>
          <a:srcRect b="5" l="6059" r="3" t="0"/>
          <a:stretch/>
        </p:blipFill>
        <p:spPr>
          <a:xfrm>
            <a:off x="4576674" y="3813713"/>
            <a:ext cx="3860041" cy="23113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oat on the water&#10;&#10;Description automatically generated with low confidence" id="238" name="Google Shape;238;p9"/>
          <p:cNvPicPr preferRelativeResize="0"/>
          <p:nvPr/>
        </p:nvPicPr>
        <p:blipFill rotWithShape="1">
          <a:blip r:embed="rId4">
            <a:alphaModFix/>
          </a:blip>
          <a:srcRect b="-4" l="0" r="5035" t="0"/>
          <a:stretch/>
        </p:blipFill>
        <p:spPr>
          <a:xfrm>
            <a:off x="8019859" y="2068333"/>
            <a:ext cx="3860041" cy="22865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water, boat, outdoor, sky&#10;&#10;Description automatically generated" id="239" name="Google Shape;239;p9"/>
          <p:cNvPicPr preferRelativeResize="0"/>
          <p:nvPr/>
        </p:nvPicPr>
        <p:blipFill rotWithShape="1">
          <a:blip r:embed="rId5">
            <a:alphaModFix/>
          </a:blip>
          <a:srcRect b="43424" l="0" r="1" t="22868"/>
          <a:stretch/>
        </p:blipFill>
        <p:spPr>
          <a:xfrm>
            <a:off x="4511769" y="308805"/>
            <a:ext cx="3860043" cy="231319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9"/>
          <p:cNvSpPr/>
          <p:nvPr/>
        </p:nvSpPr>
        <p:spPr>
          <a:xfrm>
            <a:off x="4576674" y="3875256"/>
            <a:ext cx="3860100" cy="23112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8039184" y="2068332"/>
            <a:ext cx="3860100" cy="22866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524861" y="290894"/>
            <a:ext cx="3827700" cy="23133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Life ring" id="243" name="Google Shape;243;p9"/>
          <p:cNvSpPr/>
          <p:nvPr/>
        </p:nvSpPr>
        <p:spPr>
          <a:xfrm>
            <a:off x="11108724" y="12356"/>
            <a:ext cx="1080228" cy="101325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/>
          <p:nvPr/>
        </p:nvSpPr>
        <p:spPr>
          <a:xfrm>
            <a:off x="0" y="2"/>
            <a:ext cx="12192000" cy="6857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490"/>
                </a:srgbClr>
              </a:gs>
              <a:gs pos="100000">
                <a:srgbClr val="4472C4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235"/>
                </a:srgbClr>
              </a:gs>
              <a:gs pos="2000">
                <a:srgbClr val="4472C4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 flipH="1" rot="5400000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588"/>
                </a:srgbClr>
              </a:gs>
              <a:gs pos="100000">
                <a:srgbClr val="8DA9DB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 txBox="1"/>
          <p:nvPr>
            <p:ph type="title"/>
          </p:nvPr>
        </p:nvSpPr>
        <p:spPr>
          <a:xfrm>
            <a:off x="143165" y="178892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Coding and Water Quality</a:t>
            </a:r>
            <a:endParaRPr/>
          </a:p>
        </p:txBody>
      </p:sp>
      <p:sp>
        <p:nvSpPr>
          <p:cNvPr id="255" name="Google Shape;255;p10"/>
          <p:cNvSpPr txBox="1"/>
          <p:nvPr>
            <p:ph idx="1" type="body"/>
          </p:nvPr>
        </p:nvSpPr>
        <p:spPr>
          <a:xfrm>
            <a:off x="0" y="1418860"/>
            <a:ext cx="4037824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We have the sensor unit, which is essentially all we needed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It has all of the probes for pH, dissolved oxygen, conductivity, and temperature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This is where we have gotten stuck the most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Our coding consists of three phases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	1) Mesh Network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	2) MQTT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	3) Antenna/Long Distance</a:t>
            </a:r>
            <a:endParaRPr/>
          </a:p>
        </p:txBody>
      </p:sp>
      <p:pic>
        <p:nvPicPr>
          <p:cNvPr descr="A group of computers on a table&#10;&#10;Description automatically generated with low confidence" id="256" name="Google Shape;256;p10"/>
          <p:cNvPicPr preferRelativeResize="0"/>
          <p:nvPr/>
        </p:nvPicPr>
        <p:blipFill rotWithShape="1">
          <a:blip r:embed="rId3">
            <a:alphaModFix/>
          </a:blip>
          <a:srcRect b="0" l="14545" r="6080" t="0"/>
          <a:stretch/>
        </p:blipFill>
        <p:spPr>
          <a:xfrm rot="-5400000">
            <a:off x="5546112" y="-1055069"/>
            <a:ext cx="3575517" cy="6006337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0"/>
          <p:cNvSpPr/>
          <p:nvPr/>
        </p:nvSpPr>
        <p:spPr>
          <a:xfrm>
            <a:off x="4280663" y="178892"/>
            <a:ext cx="6006337" cy="3575517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1299" y="3153252"/>
            <a:ext cx="3556963" cy="355696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0"/>
          <p:cNvSpPr/>
          <p:nvPr/>
        </p:nvSpPr>
        <p:spPr>
          <a:xfrm>
            <a:off x="7861288" y="3153250"/>
            <a:ext cx="3557100" cy="35754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ter with solid fill" id="260" name="Google Shape;26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4277" y="-28647"/>
            <a:ext cx="967762" cy="967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33625" y="4442113"/>
            <a:ext cx="2695026" cy="1573600"/>
          </a:xfrm>
          <a:prstGeom prst="rect">
            <a:avLst/>
          </a:prstGeom>
          <a:noFill/>
          <a:ln cap="flat" cmpd="sng" w="76200">
            <a:solidFill>
              <a:srgbClr val="4372C3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262" name="Google Shape;262;p10"/>
          <p:cNvSpPr/>
          <p:nvPr/>
        </p:nvSpPr>
        <p:spPr>
          <a:xfrm>
            <a:off x="4481838" y="4356025"/>
            <a:ext cx="2796600" cy="17139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Coding Mesh Network</a:t>
            </a:r>
            <a:endParaRPr/>
          </a:p>
        </p:txBody>
      </p:sp>
      <p:sp>
        <p:nvSpPr>
          <p:cNvPr id="273" name="Google Shape;273;p11"/>
          <p:cNvSpPr txBox="1"/>
          <p:nvPr>
            <p:ph idx="1" type="body"/>
          </p:nvPr>
        </p:nvSpPr>
        <p:spPr>
          <a:xfrm>
            <a:off x="139700" y="2379346"/>
            <a:ext cx="4434078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Our first goal was to create a mesh network amongst ESP32 microcontrollers to upload to ThingSpeak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mesh network is a Bluetooth connection among chips so they can communicate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id="274" name="Google Shape;2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4126669" y="2012356"/>
            <a:ext cx="3565695" cy="2671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P-WIFI-MESH - ESP32 - — ESP-IDF Programming Guide v5.0.1 documentation" id="275" name="Google Shape;27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6128" y="3841087"/>
            <a:ext cx="5872520" cy="293626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1"/>
          <p:cNvSpPr/>
          <p:nvPr/>
        </p:nvSpPr>
        <p:spPr>
          <a:xfrm>
            <a:off x="4573775" y="1588950"/>
            <a:ext cx="2671500" cy="35658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6186128" y="3760434"/>
            <a:ext cx="5675672" cy="3097566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ter with solid fill" id="278" name="Google Shape;27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4277" y="-16290"/>
            <a:ext cx="967762" cy="96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490"/>
                </a:srgbClr>
              </a:gs>
              <a:gs pos="100000">
                <a:srgbClr val="4472C4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235"/>
                </a:srgbClr>
              </a:gs>
              <a:gs pos="2000">
                <a:srgbClr val="4472C4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588"/>
                </a:srgbClr>
              </a:gs>
              <a:gs pos="100000">
                <a:srgbClr val="8DA9DB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 txBox="1"/>
          <p:nvPr>
            <p:ph type="title"/>
          </p:nvPr>
        </p:nvSpPr>
        <p:spPr>
          <a:xfrm>
            <a:off x="418225" y="249230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Coding Mesh Network</a:t>
            </a:r>
            <a:endParaRPr/>
          </a:p>
        </p:txBody>
      </p:sp>
      <p:sp>
        <p:nvSpPr>
          <p:cNvPr id="290" name="Google Shape;290;p12"/>
          <p:cNvSpPr txBox="1"/>
          <p:nvPr>
            <p:ph idx="1" type="body"/>
          </p:nvPr>
        </p:nvSpPr>
        <p:spPr>
          <a:xfrm>
            <a:off x="136843" y="1549400"/>
            <a:ext cx="3482748" cy="538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We were able to establish a stable connection to ThingSpeak from an ESP32 and upload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We were also able to create a mesh network between ESP32 chips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However there was a timing problem with the mesh network and ThingSpeak code since they used different timers</a:t>
            </a:r>
            <a:endParaRPr/>
          </a:p>
        </p:txBody>
      </p:sp>
      <p:pic>
        <p:nvPicPr>
          <p:cNvPr descr="Graphical user interface, application&#10;&#10;Description automatically generated" id="291" name="Google Shape;2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4669" y="259372"/>
            <a:ext cx="5471581" cy="511017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2"/>
          <p:cNvSpPr/>
          <p:nvPr/>
        </p:nvSpPr>
        <p:spPr>
          <a:xfrm>
            <a:off x="4189169" y="206364"/>
            <a:ext cx="5593916" cy="5163178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computer, indoor, open&#10;&#10;Description automatically generated" id="293" name="Google Shape;29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3746" y="2533825"/>
            <a:ext cx="2304213" cy="4096378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2"/>
          <p:cNvSpPr/>
          <p:nvPr/>
        </p:nvSpPr>
        <p:spPr>
          <a:xfrm>
            <a:off x="9469562" y="2512392"/>
            <a:ext cx="2304213" cy="4139244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ter with solid fill" id="295" name="Google Shape;29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4277" y="-28647"/>
            <a:ext cx="967762" cy="96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Transition to Raspberry Pi + MQTT</a:t>
            </a:r>
            <a:endParaRPr/>
          </a:p>
        </p:txBody>
      </p:sp>
      <p:pic>
        <p:nvPicPr>
          <p:cNvPr descr="A picture containing text, computer, indoor, person&#10;&#10;Description automatically generated" id="306" name="Google Shape;3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9506" y="4033507"/>
            <a:ext cx="4842602" cy="27239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QTT on Raspberry Pi - Raspberry Valley" id="307" name="Google Shape;30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3614" y="1891970"/>
            <a:ext cx="4597400" cy="237158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3"/>
          <p:cNvSpPr txBox="1"/>
          <p:nvPr/>
        </p:nvSpPr>
        <p:spPr>
          <a:xfrm>
            <a:off x="49298" y="2254402"/>
            <a:ext cx="285780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we turned to a Raspberry Pi MQTT with Mosquitto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Essentially, the Raspberry Pi was a broker where the ESP32 could send data and ThingSpeak could subscribe to collect the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could not find enough code to make this work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7221013" y="1556791"/>
            <a:ext cx="4842600" cy="27240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2987950" y="4033507"/>
            <a:ext cx="4842602" cy="2723964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ter with solid fill" id="311" name="Google Shape;31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4277" y="-28647"/>
            <a:ext cx="967762" cy="96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490"/>
                </a:srgbClr>
              </a:gs>
              <a:gs pos="100000">
                <a:srgbClr val="4472C4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235"/>
                </a:srgbClr>
              </a:gs>
              <a:gs pos="2000">
                <a:srgbClr val="4472C4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588"/>
                </a:srgbClr>
              </a:gs>
              <a:gs pos="100000">
                <a:srgbClr val="8DA9DB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 txBox="1"/>
          <p:nvPr>
            <p:ph type="title"/>
          </p:nvPr>
        </p:nvSpPr>
        <p:spPr>
          <a:xfrm>
            <a:off x="466722" y="586855"/>
            <a:ext cx="3201366" cy="11149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Code Antenna</a:t>
            </a:r>
            <a:endParaRPr/>
          </a:p>
        </p:txBody>
      </p:sp>
      <p:sp>
        <p:nvSpPr>
          <p:cNvPr id="324" name="Google Shape;324;p14"/>
          <p:cNvSpPr txBox="1"/>
          <p:nvPr>
            <p:ph idx="1" type="body"/>
          </p:nvPr>
        </p:nvSpPr>
        <p:spPr>
          <a:xfrm>
            <a:off x="149359" y="2311400"/>
            <a:ext cx="3518729" cy="449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Now we are going to add an antenna to the ESP32 to enhance its range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This way we can directly upload to ThingSpeak without a mesh network or MQTT</a:t>
            </a:r>
            <a:endParaRPr/>
          </a:p>
        </p:txBody>
      </p:sp>
      <p:pic>
        <p:nvPicPr>
          <p:cNvPr descr="A picture containing person, indoor, floor&#10;&#10;Description automatically generated" id="325" name="Google Shape;3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4548" y="586855"/>
            <a:ext cx="7265324" cy="408674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4"/>
          <p:cNvSpPr/>
          <p:nvPr/>
        </p:nvSpPr>
        <p:spPr>
          <a:xfrm>
            <a:off x="4504548" y="511388"/>
            <a:ext cx="7265324" cy="4172353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ter with solid fill" id="327" name="Google Shape;32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4277" y="-28647"/>
            <a:ext cx="967762" cy="96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437b68f842_1_10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2437b68f842_1_10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2437b68f842_1_104"/>
          <p:cNvSpPr/>
          <p:nvPr/>
        </p:nvSpPr>
        <p:spPr>
          <a:xfrm flipH="1" rot="10800000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14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2437b68f842_1_104"/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19991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2437b68f842_1_104"/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7999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2437b68f842_1_104"/>
          <p:cNvSpPr txBox="1"/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Transition to Raspberry Pi + MQTT</a:t>
            </a:r>
            <a:endParaRPr/>
          </a:p>
        </p:txBody>
      </p:sp>
      <p:pic>
        <p:nvPicPr>
          <p:cNvPr descr="A picture containing text, computer, indoor, person&#10;&#10;Description automatically generated" id="338" name="Google Shape;338;g2437b68f842_1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9506" y="4033507"/>
            <a:ext cx="4842600" cy="27239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QTT on Raspberry Pi - Raspberry Valley" id="339" name="Google Shape;339;g2437b68f842_1_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3614" y="1891970"/>
            <a:ext cx="4597400" cy="2371587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2437b68f842_1_104"/>
          <p:cNvSpPr txBox="1"/>
          <p:nvPr/>
        </p:nvSpPr>
        <p:spPr>
          <a:xfrm>
            <a:off x="49298" y="2254402"/>
            <a:ext cx="2857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we turned to a Raspberry Pi MQTT with Mosquitto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Essentially, the Raspberry Pi was a broker where the ESP32 could send data and ThingSpeak could subscribe to collect the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could not find enough code to make this work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2437b68f842_1_104"/>
          <p:cNvSpPr/>
          <p:nvPr/>
        </p:nvSpPr>
        <p:spPr>
          <a:xfrm>
            <a:off x="7221013" y="1556791"/>
            <a:ext cx="4842600" cy="27240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2437b68f842_1_104"/>
          <p:cNvSpPr/>
          <p:nvPr/>
        </p:nvSpPr>
        <p:spPr>
          <a:xfrm>
            <a:off x="2987950" y="4033507"/>
            <a:ext cx="4842600" cy="27240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ter with solid fill" id="343" name="Google Shape;343;g2437b68f842_1_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4277" y="-28647"/>
            <a:ext cx="967762" cy="96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437b68f842_1_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2437b68f842_1_33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2437b68f842_1_33"/>
          <p:cNvSpPr/>
          <p:nvPr/>
        </p:nvSpPr>
        <p:spPr>
          <a:xfrm flipH="1" rot="5400000">
            <a:off x="-1410016" y="1410150"/>
            <a:ext cx="6858000" cy="40377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12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2437b68f842_1_33"/>
          <p:cNvSpPr/>
          <p:nvPr/>
        </p:nvSpPr>
        <p:spPr>
          <a:xfrm flipH="1" rot="5400000">
            <a:off x="-1410016" y="1420288"/>
            <a:ext cx="6858000" cy="40377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490"/>
                </a:srgbClr>
              </a:gs>
              <a:gs pos="100000">
                <a:srgbClr val="4472C4">
                  <a:alpha val="45490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2437b68f842_1_33"/>
          <p:cNvSpPr/>
          <p:nvPr/>
        </p:nvSpPr>
        <p:spPr>
          <a:xfrm flipH="1" rot="5400000">
            <a:off x="767983" y="3588145"/>
            <a:ext cx="2502000" cy="4037700"/>
          </a:xfrm>
          <a:prstGeom prst="rect">
            <a:avLst/>
          </a:prstGeom>
          <a:gradFill>
            <a:gsLst>
              <a:gs pos="0">
                <a:srgbClr val="4472C4">
                  <a:alpha val="28235"/>
                </a:srgbClr>
              </a:gs>
              <a:gs pos="2000">
                <a:srgbClr val="4472C4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799903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2437b68f842_1_33"/>
          <p:cNvSpPr/>
          <p:nvPr/>
        </p:nvSpPr>
        <p:spPr>
          <a:xfrm rot="-967356">
            <a:off x="-500907" y="968177"/>
            <a:ext cx="3897638" cy="4176045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352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2437b68f842_1_33"/>
          <p:cNvSpPr/>
          <p:nvPr/>
        </p:nvSpPr>
        <p:spPr>
          <a:xfrm flipH="1" rot="5400000">
            <a:off x="-1410024" y="1400012"/>
            <a:ext cx="6858000" cy="40377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588"/>
                </a:srgbClr>
              </a:gs>
              <a:gs pos="100000">
                <a:srgbClr val="8DA9DB">
                  <a:alpha val="10588"/>
                </a:srgbClr>
              </a:gs>
            </a:gsLst>
            <a:lin ang="720001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2437b68f842_1_33"/>
          <p:cNvSpPr txBox="1"/>
          <p:nvPr>
            <p:ph type="title"/>
          </p:nvPr>
        </p:nvSpPr>
        <p:spPr>
          <a:xfrm>
            <a:off x="466722" y="586855"/>
            <a:ext cx="32013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Soft Launch</a:t>
            </a:r>
            <a:endParaRPr/>
          </a:p>
        </p:txBody>
      </p:sp>
      <p:sp>
        <p:nvSpPr>
          <p:cNvPr id="356" name="Google Shape;356;g2437b68f842_1_33"/>
          <p:cNvSpPr txBox="1"/>
          <p:nvPr>
            <p:ph idx="1" type="body"/>
          </p:nvPr>
        </p:nvSpPr>
        <p:spPr>
          <a:xfrm>
            <a:off x="149359" y="2311400"/>
            <a:ext cx="3518700" cy="44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Now we are going to add an antenna to the ESP32 to enhance its range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This way we can directly upload to ThingSpeak without a mesh network or MQTT</a:t>
            </a:r>
            <a:endParaRPr/>
          </a:p>
        </p:txBody>
      </p:sp>
      <p:pic>
        <p:nvPicPr>
          <p:cNvPr descr="A picture containing person, indoor, floor&#10;&#10;Description automatically generated" id="357" name="Google Shape;357;g2437b68f842_1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4548" y="586855"/>
            <a:ext cx="7265323" cy="4086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2437b68f842_1_33"/>
          <p:cNvSpPr/>
          <p:nvPr/>
        </p:nvSpPr>
        <p:spPr>
          <a:xfrm>
            <a:off x="4504548" y="511388"/>
            <a:ext cx="7265400" cy="41724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ter with solid fill" id="359" name="Google Shape;359;g2437b68f842_1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4277" y="-28647"/>
            <a:ext cx="967762" cy="96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437b68f842_1_1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2437b68f842_1_1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2437b68f842_1_119"/>
          <p:cNvSpPr/>
          <p:nvPr/>
        </p:nvSpPr>
        <p:spPr>
          <a:xfrm flipH="1" rot="10800000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14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2437b68f842_1_119"/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19991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2437b68f842_1_119"/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7999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2437b68f842_1_119"/>
          <p:cNvSpPr txBox="1"/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Transition to Raspberry Pi + MQTT</a:t>
            </a:r>
            <a:endParaRPr/>
          </a:p>
        </p:txBody>
      </p:sp>
      <p:pic>
        <p:nvPicPr>
          <p:cNvPr descr="A picture containing text, computer, indoor, person&#10;&#10;Description automatically generated" id="370" name="Google Shape;370;g2437b68f842_1_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9506" y="4033507"/>
            <a:ext cx="4842600" cy="27239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QTT on Raspberry Pi - Raspberry Valley" id="371" name="Google Shape;371;g2437b68f842_1_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3614" y="1891970"/>
            <a:ext cx="4597400" cy="2371587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2437b68f842_1_119"/>
          <p:cNvSpPr txBox="1"/>
          <p:nvPr/>
        </p:nvSpPr>
        <p:spPr>
          <a:xfrm>
            <a:off x="49298" y="2254402"/>
            <a:ext cx="2857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we turned to a Raspberry Pi MQTT with Mosquitto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Essentially, the Raspberry Pi was a broker where the ESP32 could send data and ThingSpeak could subscribe to collect the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could not find enough code to make this work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2437b68f842_1_119"/>
          <p:cNvSpPr/>
          <p:nvPr/>
        </p:nvSpPr>
        <p:spPr>
          <a:xfrm>
            <a:off x="7221013" y="1556791"/>
            <a:ext cx="4842600" cy="27240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2437b68f842_1_119"/>
          <p:cNvSpPr/>
          <p:nvPr/>
        </p:nvSpPr>
        <p:spPr>
          <a:xfrm>
            <a:off x="2987950" y="4033507"/>
            <a:ext cx="4842600" cy="27240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ter with solid fill" id="375" name="Google Shape;375;g2437b68f842_1_1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4277" y="-28647"/>
            <a:ext cx="967762" cy="96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437b68f842_1_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2437b68f842_1_5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2437b68f842_1_54"/>
          <p:cNvSpPr/>
          <p:nvPr/>
        </p:nvSpPr>
        <p:spPr>
          <a:xfrm flipH="1" rot="5400000">
            <a:off x="-1410016" y="1410150"/>
            <a:ext cx="6858000" cy="40377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12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2437b68f842_1_54"/>
          <p:cNvSpPr/>
          <p:nvPr/>
        </p:nvSpPr>
        <p:spPr>
          <a:xfrm flipH="1" rot="5400000">
            <a:off x="-1410016" y="1420288"/>
            <a:ext cx="6858000" cy="40377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490"/>
                </a:srgbClr>
              </a:gs>
              <a:gs pos="100000">
                <a:srgbClr val="4472C4">
                  <a:alpha val="45490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2437b68f842_1_54"/>
          <p:cNvSpPr/>
          <p:nvPr/>
        </p:nvSpPr>
        <p:spPr>
          <a:xfrm flipH="1" rot="5400000">
            <a:off x="767983" y="3588145"/>
            <a:ext cx="2502000" cy="4037700"/>
          </a:xfrm>
          <a:prstGeom prst="rect">
            <a:avLst/>
          </a:prstGeom>
          <a:gradFill>
            <a:gsLst>
              <a:gs pos="0">
                <a:srgbClr val="4472C4">
                  <a:alpha val="28235"/>
                </a:srgbClr>
              </a:gs>
              <a:gs pos="2000">
                <a:srgbClr val="4472C4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799903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2437b68f842_1_54"/>
          <p:cNvSpPr/>
          <p:nvPr/>
        </p:nvSpPr>
        <p:spPr>
          <a:xfrm rot="-967356">
            <a:off x="-500907" y="968177"/>
            <a:ext cx="3897638" cy="4176045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352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2437b68f842_1_54"/>
          <p:cNvSpPr/>
          <p:nvPr/>
        </p:nvSpPr>
        <p:spPr>
          <a:xfrm flipH="1" rot="5400000">
            <a:off x="-1410024" y="1400012"/>
            <a:ext cx="6858000" cy="40377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588"/>
                </a:srgbClr>
              </a:gs>
              <a:gs pos="100000">
                <a:srgbClr val="8DA9DB">
                  <a:alpha val="10588"/>
                </a:srgbClr>
              </a:gs>
            </a:gsLst>
            <a:lin ang="720001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2437b68f842_1_54"/>
          <p:cNvSpPr txBox="1"/>
          <p:nvPr>
            <p:ph type="title"/>
          </p:nvPr>
        </p:nvSpPr>
        <p:spPr>
          <a:xfrm>
            <a:off x="466722" y="586855"/>
            <a:ext cx="32013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Soft Launch</a:t>
            </a:r>
            <a:endParaRPr/>
          </a:p>
        </p:txBody>
      </p:sp>
      <p:sp>
        <p:nvSpPr>
          <p:cNvPr id="388" name="Google Shape;388;g2437b68f842_1_54"/>
          <p:cNvSpPr txBox="1"/>
          <p:nvPr>
            <p:ph idx="1" type="body"/>
          </p:nvPr>
        </p:nvSpPr>
        <p:spPr>
          <a:xfrm>
            <a:off x="149359" y="2311400"/>
            <a:ext cx="3518700" cy="44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Now we are going to add an antenna to the ESP32 to enhance its range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This way we can directly upload to ThingSpeak without a mesh network or MQTT</a:t>
            </a:r>
            <a:endParaRPr/>
          </a:p>
        </p:txBody>
      </p:sp>
      <p:pic>
        <p:nvPicPr>
          <p:cNvPr descr="A picture containing person, indoor, floor&#10;&#10;Description automatically generated" id="389" name="Google Shape;389;g2437b68f842_1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4548" y="586855"/>
            <a:ext cx="7265323" cy="4086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2437b68f842_1_54"/>
          <p:cNvSpPr/>
          <p:nvPr/>
        </p:nvSpPr>
        <p:spPr>
          <a:xfrm>
            <a:off x="4504548" y="511388"/>
            <a:ext cx="7265400" cy="41724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ter with solid fill" id="391" name="Google Shape;391;g2437b68f842_1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4277" y="-28647"/>
            <a:ext cx="967762" cy="96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437b68f842_1_1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2437b68f842_1_13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2437b68f842_1_134"/>
          <p:cNvSpPr/>
          <p:nvPr/>
        </p:nvSpPr>
        <p:spPr>
          <a:xfrm flipH="1" rot="10800000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14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2437b68f842_1_134"/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19991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2437b68f842_1_134"/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7999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2437b68f842_1_134"/>
          <p:cNvSpPr txBox="1"/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Transition to Raspberry Pi + MQTT</a:t>
            </a:r>
            <a:endParaRPr/>
          </a:p>
        </p:txBody>
      </p:sp>
      <p:pic>
        <p:nvPicPr>
          <p:cNvPr descr="A picture containing text, computer, indoor, person&#10;&#10;Description automatically generated" id="402" name="Google Shape;402;g2437b68f842_1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9506" y="4033507"/>
            <a:ext cx="4842600" cy="27239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QTT on Raspberry Pi - Raspberry Valley" id="403" name="Google Shape;403;g2437b68f842_1_1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3614" y="1891970"/>
            <a:ext cx="4597400" cy="237158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2437b68f842_1_134"/>
          <p:cNvSpPr txBox="1"/>
          <p:nvPr/>
        </p:nvSpPr>
        <p:spPr>
          <a:xfrm>
            <a:off x="49298" y="2254402"/>
            <a:ext cx="2857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we turned to a Raspberry Pi MQTT with Mosquitto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Essentially, the Raspberry Pi was a broker where the ESP32 could send data and ThingSpeak could subscribe to collect the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could not find enough code to make this work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2437b68f842_1_134"/>
          <p:cNvSpPr/>
          <p:nvPr/>
        </p:nvSpPr>
        <p:spPr>
          <a:xfrm>
            <a:off x="7221013" y="1556791"/>
            <a:ext cx="4842600" cy="27240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2437b68f842_1_134"/>
          <p:cNvSpPr/>
          <p:nvPr/>
        </p:nvSpPr>
        <p:spPr>
          <a:xfrm>
            <a:off x="2987950" y="4033507"/>
            <a:ext cx="4842600" cy="27240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ter with solid fill" id="407" name="Google Shape;407;g2437b68f842_1_1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4277" y="-28647"/>
            <a:ext cx="967762" cy="96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437b68f842_1_6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2437b68f842_1_69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2437b68f842_1_69"/>
          <p:cNvSpPr/>
          <p:nvPr/>
        </p:nvSpPr>
        <p:spPr>
          <a:xfrm flipH="1" rot="5400000">
            <a:off x="-1410016" y="1410150"/>
            <a:ext cx="6858000" cy="40377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12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2437b68f842_1_69"/>
          <p:cNvSpPr/>
          <p:nvPr/>
        </p:nvSpPr>
        <p:spPr>
          <a:xfrm flipH="1" rot="5400000">
            <a:off x="-1410016" y="1420288"/>
            <a:ext cx="6858000" cy="40377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490"/>
                </a:srgbClr>
              </a:gs>
              <a:gs pos="100000">
                <a:srgbClr val="4472C4">
                  <a:alpha val="45490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2437b68f842_1_69"/>
          <p:cNvSpPr/>
          <p:nvPr/>
        </p:nvSpPr>
        <p:spPr>
          <a:xfrm flipH="1" rot="5400000">
            <a:off x="767983" y="3588145"/>
            <a:ext cx="2502000" cy="4037700"/>
          </a:xfrm>
          <a:prstGeom prst="rect">
            <a:avLst/>
          </a:prstGeom>
          <a:gradFill>
            <a:gsLst>
              <a:gs pos="0">
                <a:srgbClr val="4472C4">
                  <a:alpha val="28235"/>
                </a:srgbClr>
              </a:gs>
              <a:gs pos="2000">
                <a:srgbClr val="4472C4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799903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2437b68f842_1_69"/>
          <p:cNvSpPr/>
          <p:nvPr/>
        </p:nvSpPr>
        <p:spPr>
          <a:xfrm rot="-967356">
            <a:off x="-500907" y="968177"/>
            <a:ext cx="3897638" cy="4176045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352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2437b68f842_1_69"/>
          <p:cNvSpPr/>
          <p:nvPr/>
        </p:nvSpPr>
        <p:spPr>
          <a:xfrm flipH="1" rot="5400000">
            <a:off x="-1410024" y="1400012"/>
            <a:ext cx="6858000" cy="40377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588"/>
                </a:srgbClr>
              </a:gs>
              <a:gs pos="100000">
                <a:srgbClr val="8DA9DB">
                  <a:alpha val="10588"/>
                </a:srgbClr>
              </a:gs>
            </a:gsLst>
            <a:lin ang="720001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2437b68f842_1_69"/>
          <p:cNvSpPr txBox="1"/>
          <p:nvPr>
            <p:ph type="title"/>
          </p:nvPr>
        </p:nvSpPr>
        <p:spPr>
          <a:xfrm>
            <a:off x="466722" y="586855"/>
            <a:ext cx="32013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Soft Launch</a:t>
            </a:r>
            <a:endParaRPr/>
          </a:p>
        </p:txBody>
      </p:sp>
      <p:sp>
        <p:nvSpPr>
          <p:cNvPr id="420" name="Google Shape;420;g2437b68f842_1_69"/>
          <p:cNvSpPr txBox="1"/>
          <p:nvPr>
            <p:ph idx="1" type="body"/>
          </p:nvPr>
        </p:nvSpPr>
        <p:spPr>
          <a:xfrm>
            <a:off x="149359" y="2311400"/>
            <a:ext cx="3518700" cy="44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Now we are going to add an antenna to the ESP32 to enhance its range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This way we can directly upload to ThingSpeak without a mesh network or MQTT</a:t>
            </a:r>
            <a:endParaRPr/>
          </a:p>
        </p:txBody>
      </p:sp>
      <p:pic>
        <p:nvPicPr>
          <p:cNvPr descr="A picture containing person, indoor, floor&#10;&#10;Description automatically generated" id="421" name="Google Shape;421;g2437b68f842_1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4548" y="586855"/>
            <a:ext cx="7265323" cy="4086744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2437b68f842_1_69"/>
          <p:cNvSpPr/>
          <p:nvPr/>
        </p:nvSpPr>
        <p:spPr>
          <a:xfrm>
            <a:off x="4504548" y="511388"/>
            <a:ext cx="7265400" cy="41724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ter with solid fill" id="423" name="Google Shape;423;g2437b68f842_1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4277" y="-28647"/>
            <a:ext cx="967762" cy="96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2F5496"/>
              </a:gs>
            </a:gsLst>
            <a:lin ang="197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1F3864">
                  <a:alpha val="67450"/>
                </a:srgbClr>
              </a:gs>
              <a:gs pos="19000">
                <a:srgbClr val="1F3864">
                  <a:alpha val="67450"/>
                </a:srgbClr>
              </a:gs>
              <a:gs pos="100000">
                <a:srgbClr val="4472C4">
                  <a:alpha val="47450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 flipH="1" rot="-5400000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2F5496">
                  <a:alpha val="15294"/>
                </a:srgbClr>
              </a:gs>
              <a:gs pos="23000">
                <a:srgbClr val="2F5496">
                  <a:alpha val="15294"/>
                </a:srgbClr>
              </a:gs>
              <a:gs pos="99000">
                <a:srgbClr val="000000">
                  <a:alpha val="44313"/>
                </a:srgbClr>
              </a:gs>
              <a:gs pos="100000">
                <a:srgbClr val="000000">
                  <a:alpha val="44313"/>
                </a:srgbClr>
              </a:gs>
            </a:gsLst>
            <a:lin ang="210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 txBox="1"/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Challenges Faced</a:t>
            </a:r>
            <a:endParaRPr/>
          </a:p>
        </p:txBody>
      </p:sp>
      <p:grpSp>
        <p:nvGrpSpPr>
          <p:cNvPr id="433" name="Google Shape;433;p15"/>
          <p:cNvGrpSpPr/>
          <p:nvPr/>
        </p:nvGrpSpPr>
        <p:grpSpPr>
          <a:xfrm>
            <a:off x="2192970" y="2660681"/>
            <a:ext cx="7830000" cy="3600000"/>
            <a:chOff x="1548914" y="44702"/>
            <a:chExt cx="7830000" cy="3600000"/>
          </a:xfrm>
        </p:grpSpPr>
        <p:sp>
          <p:nvSpPr>
            <p:cNvPr id="434" name="Google Shape;434;p15"/>
            <p:cNvSpPr/>
            <p:nvPr/>
          </p:nvSpPr>
          <p:spPr>
            <a:xfrm>
              <a:off x="2250914" y="44702"/>
              <a:ext cx="2196000" cy="2196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5"/>
            <p:cNvSpPr/>
            <p:nvPr/>
          </p:nvSpPr>
          <p:spPr>
            <a:xfrm>
              <a:off x="2718914" y="512702"/>
              <a:ext cx="1260000" cy="126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5"/>
            <p:cNvSpPr/>
            <p:nvPr/>
          </p:nvSpPr>
          <p:spPr>
            <a:xfrm>
              <a:off x="1548914" y="29247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5"/>
            <p:cNvSpPr txBox="1"/>
            <p:nvPr/>
          </p:nvSpPr>
          <p:spPr>
            <a:xfrm>
              <a:off x="1548914" y="29247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WIFI BARRIERS AND FIRE WALL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6480914" y="44702"/>
              <a:ext cx="2196000" cy="2196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6948914" y="512702"/>
              <a:ext cx="1260000" cy="126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5778914" y="29247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5"/>
            <p:cNvSpPr txBox="1"/>
            <p:nvPr/>
          </p:nvSpPr>
          <p:spPr>
            <a:xfrm>
              <a:off x="5778914" y="29247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MESH NETWORK 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Life ring" id="442" name="Google Shape;442;p15"/>
          <p:cNvSpPr/>
          <p:nvPr/>
        </p:nvSpPr>
        <p:spPr>
          <a:xfrm>
            <a:off x="9292280" y="-29433"/>
            <a:ext cx="1080228" cy="101325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ter with solid fill" id="443" name="Google Shape;44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71528" y="-1281"/>
            <a:ext cx="967762" cy="967762"/>
          </a:xfrm>
          <a:prstGeom prst="rect">
            <a:avLst/>
          </a:prstGeom>
          <a:noFill/>
          <a:ln>
            <a:noFill/>
          </a:ln>
        </p:spPr>
      </p:pic>
      <p:sp>
        <p:nvSpPr>
          <p:cNvPr descr="Statistics" id="444" name="Google Shape;444;p15"/>
          <p:cNvSpPr/>
          <p:nvPr/>
        </p:nvSpPr>
        <p:spPr>
          <a:xfrm>
            <a:off x="11099571" y="45419"/>
            <a:ext cx="1080228" cy="93840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2F5496"/>
              </a:gs>
            </a:gsLst>
            <a:lin ang="197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1F3864">
                  <a:alpha val="67450"/>
                </a:srgbClr>
              </a:gs>
              <a:gs pos="19000">
                <a:srgbClr val="1F3864">
                  <a:alpha val="67450"/>
                </a:srgbClr>
              </a:gs>
              <a:gs pos="100000">
                <a:srgbClr val="4472C4">
                  <a:alpha val="47450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 flipH="1" rot="-5400000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2F5496">
                  <a:alpha val="15294"/>
                </a:srgbClr>
              </a:gs>
              <a:gs pos="23000">
                <a:srgbClr val="2F5496">
                  <a:alpha val="15294"/>
                </a:srgbClr>
              </a:gs>
              <a:gs pos="99000">
                <a:srgbClr val="000000">
                  <a:alpha val="44313"/>
                </a:srgbClr>
              </a:gs>
              <a:gs pos="100000">
                <a:srgbClr val="000000">
                  <a:alpha val="44313"/>
                </a:srgbClr>
              </a:gs>
            </a:gsLst>
            <a:lin ang="210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 txBox="1"/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Collaborations</a:t>
            </a:r>
            <a:endParaRPr/>
          </a:p>
        </p:txBody>
      </p:sp>
      <p:grpSp>
        <p:nvGrpSpPr>
          <p:cNvPr id="454" name="Google Shape;454;p16"/>
          <p:cNvGrpSpPr/>
          <p:nvPr/>
        </p:nvGrpSpPr>
        <p:grpSpPr>
          <a:xfrm>
            <a:off x="645389" y="2726962"/>
            <a:ext cx="10925161" cy="3467437"/>
            <a:chOff x="1333" y="110983"/>
            <a:chExt cx="10925161" cy="3467437"/>
          </a:xfrm>
        </p:grpSpPr>
        <p:sp>
          <p:nvSpPr>
            <p:cNvPr id="455" name="Google Shape;455;p16"/>
            <p:cNvSpPr/>
            <p:nvPr/>
          </p:nvSpPr>
          <p:spPr>
            <a:xfrm>
              <a:off x="1333" y="110983"/>
              <a:ext cx="4682211" cy="2973204"/>
            </a:xfrm>
            <a:prstGeom prst="roundRect">
              <a:avLst>
                <a:gd fmla="val 10000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521579" y="605216"/>
              <a:ext cx="4682211" cy="2973204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411"/>
              </a:schemeClr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6"/>
            <p:cNvSpPr txBox="1"/>
            <p:nvPr/>
          </p:nvSpPr>
          <p:spPr>
            <a:xfrm>
              <a:off x="608661" y="692298"/>
              <a:ext cx="4508047" cy="2799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alibri"/>
                <a:buNone/>
              </a:pPr>
              <a:r>
                <a:rPr b="0" i="0" lang="en-US" sz="3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Nate Abbott helped us in our work – he is doing another Strnad where the mesh network would have been useful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5724037" y="110983"/>
              <a:ext cx="4682211" cy="2973204"/>
            </a:xfrm>
            <a:prstGeom prst="roundRect">
              <a:avLst>
                <a:gd fmla="val 10000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6244283" y="605216"/>
              <a:ext cx="4682211" cy="2973204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411"/>
              </a:schemeClr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6"/>
            <p:cNvSpPr txBox="1"/>
            <p:nvPr/>
          </p:nvSpPr>
          <p:spPr>
            <a:xfrm>
              <a:off x="6331365" y="692298"/>
              <a:ext cx="4508047" cy="2799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alibri"/>
                <a:buNone/>
              </a:pPr>
              <a:r>
                <a:rPr b="0" i="0" lang="en-US" sz="3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We plan to work with other classes as well like biology, ecology, and statistics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Life ring" id="461" name="Google Shape;461;p16"/>
          <p:cNvSpPr/>
          <p:nvPr/>
        </p:nvSpPr>
        <p:spPr>
          <a:xfrm>
            <a:off x="9292280" y="-29433"/>
            <a:ext cx="1080228" cy="101325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ter with solid fill" id="462" name="Google Shape;46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528" y="-1281"/>
            <a:ext cx="967762" cy="967762"/>
          </a:xfrm>
          <a:prstGeom prst="rect">
            <a:avLst/>
          </a:prstGeom>
          <a:noFill/>
          <a:ln>
            <a:noFill/>
          </a:ln>
        </p:spPr>
      </p:pic>
      <p:sp>
        <p:nvSpPr>
          <p:cNvPr descr="Statistics" id="463" name="Google Shape;463;p16"/>
          <p:cNvSpPr/>
          <p:nvPr/>
        </p:nvSpPr>
        <p:spPr>
          <a:xfrm>
            <a:off x="11099571" y="45419"/>
            <a:ext cx="1080228" cy="93840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"/>
          <p:cNvSpPr/>
          <p:nvPr/>
        </p:nvSpPr>
        <p:spPr>
          <a:xfrm>
            <a:off x="0" y="0"/>
            <a:ext cx="2846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0" y="0"/>
            <a:ext cx="8528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490"/>
                </a:srgbClr>
              </a:gs>
              <a:gs pos="100000">
                <a:srgbClr val="4472C4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235"/>
                </a:srgbClr>
              </a:gs>
              <a:gs pos="2000">
                <a:srgbClr val="4472C4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588"/>
                </a:srgbClr>
              </a:gs>
              <a:gs pos="100000">
                <a:srgbClr val="8DA9DB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 txBox="1"/>
          <p:nvPr>
            <p:ph type="title"/>
          </p:nvPr>
        </p:nvSpPr>
        <p:spPr>
          <a:xfrm>
            <a:off x="418263" y="367401"/>
            <a:ext cx="3201300" cy="11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Next Year</a:t>
            </a:r>
            <a:endParaRPr/>
          </a:p>
        </p:txBody>
      </p:sp>
      <p:pic>
        <p:nvPicPr>
          <p:cNvPr descr="Statistics with solid fill" id="476" name="Google Shape;4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6409" y="10137"/>
            <a:ext cx="1052543" cy="1052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 with solid fill" id="477" name="Google Shape;47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528" y="-1281"/>
            <a:ext cx="967762" cy="967762"/>
          </a:xfrm>
          <a:prstGeom prst="rect">
            <a:avLst/>
          </a:prstGeom>
          <a:noFill/>
          <a:ln>
            <a:noFill/>
          </a:ln>
        </p:spPr>
      </p:pic>
      <p:sp>
        <p:nvSpPr>
          <p:cNvPr descr="Life ring" id="478" name="Google Shape;478;p17"/>
          <p:cNvSpPr/>
          <p:nvPr/>
        </p:nvSpPr>
        <p:spPr>
          <a:xfrm>
            <a:off x="9292280" y="-29433"/>
            <a:ext cx="1080228" cy="101325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7"/>
          <p:cNvSpPr txBox="1"/>
          <p:nvPr>
            <p:ph idx="1" type="body"/>
          </p:nvPr>
        </p:nvSpPr>
        <p:spPr>
          <a:xfrm>
            <a:off x="259584" y="1980775"/>
            <a:ext cx="3518700" cy="44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The plan is to spend this summer troubleshooting and setting up the buoy to have the teachers use it.</a:t>
            </a:r>
            <a:endParaRPr sz="2000"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As well portable units using the same technology will be used to study many of the stream and rivers around the US campus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480" name="Google Shape;48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66700" y="1861650"/>
            <a:ext cx="7024799" cy="395144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7"/>
          <p:cNvSpPr/>
          <p:nvPr/>
        </p:nvSpPr>
        <p:spPr>
          <a:xfrm>
            <a:off x="4566700" y="1801500"/>
            <a:ext cx="7024800" cy="40116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2f8667e090_1_9"/>
          <p:cNvSpPr/>
          <p:nvPr/>
        </p:nvSpPr>
        <p:spPr>
          <a:xfrm>
            <a:off x="0" y="0"/>
            <a:ext cx="2846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22f8667e090_1_9"/>
          <p:cNvSpPr/>
          <p:nvPr/>
        </p:nvSpPr>
        <p:spPr>
          <a:xfrm>
            <a:off x="0" y="0"/>
            <a:ext cx="8528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22f8667e090_1_9"/>
          <p:cNvSpPr/>
          <p:nvPr/>
        </p:nvSpPr>
        <p:spPr>
          <a:xfrm flipH="1" rot="5400000">
            <a:off x="-1410016" y="1410150"/>
            <a:ext cx="6858000" cy="40377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12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22f8667e090_1_9"/>
          <p:cNvSpPr/>
          <p:nvPr/>
        </p:nvSpPr>
        <p:spPr>
          <a:xfrm flipH="1" rot="5400000">
            <a:off x="-1410016" y="1420288"/>
            <a:ext cx="6858000" cy="40377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490"/>
                </a:srgbClr>
              </a:gs>
              <a:gs pos="100000">
                <a:srgbClr val="4472C4">
                  <a:alpha val="45490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22f8667e090_1_9"/>
          <p:cNvSpPr/>
          <p:nvPr/>
        </p:nvSpPr>
        <p:spPr>
          <a:xfrm flipH="1" rot="5400000">
            <a:off x="767983" y="3588145"/>
            <a:ext cx="2502000" cy="4037700"/>
          </a:xfrm>
          <a:prstGeom prst="rect">
            <a:avLst/>
          </a:prstGeom>
          <a:gradFill>
            <a:gsLst>
              <a:gs pos="0">
                <a:srgbClr val="4472C4">
                  <a:alpha val="28235"/>
                </a:srgbClr>
              </a:gs>
              <a:gs pos="2000">
                <a:srgbClr val="4472C4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799903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22f8667e090_1_9"/>
          <p:cNvSpPr/>
          <p:nvPr/>
        </p:nvSpPr>
        <p:spPr>
          <a:xfrm rot="-967356">
            <a:off x="-500907" y="968177"/>
            <a:ext cx="3897638" cy="4176045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352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22f8667e090_1_9"/>
          <p:cNvSpPr/>
          <p:nvPr/>
        </p:nvSpPr>
        <p:spPr>
          <a:xfrm flipH="1" rot="5400000">
            <a:off x="-1410024" y="1420312"/>
            <a:ext cx="6858000" cy="40377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588"/>
                </a:srgbClr>
              </a:gs>
              <a:gs pos="100000">
                <a:srgbClr val="8DA9DB">
                  <a:alpha val="10588"/>
                </a:srgbClr>
              </a:gs>
            </a:gsLst>
            <a:lin ang="720001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22f8667e090_1_9"/>
          <p:cNvSpPr txBox="1"/>
          <p:nvPr>
            <p:ph type="title"/>
          </p:nvPr>
        </p:nvSpPr>
        <p:spPr>
          <a:xfrm>
            <a:off x="55463" y="332401"/>
            <a:ext cx="3201300" cy="11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Thank You</a:t>
            </a:r>
            <a:endParaRPr/>
          </a:p>
        </p:txBody>
      </p:sp>
      <p:pic>
        <p:nvPicPr>
          <p:cNvPr descr="Statistics with solid fill" id="494" name="Google Shape;494;g22f8667e090_1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6409" y="10137"/>
            <a:ext cx="1052543" cy="1052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 with solid fill" id="495" name="Google Shape;495;g22f8667e090_1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528" y="-1281"/>
            <a:ext cx="967762" cy="967762"/>
          </a:xfrm>
          <a:prstGeom prst="rect">
            <a:avLst/>
          </a:prstGeom>
          <a:noFill/>
          <a:ln>
            <a:noFill/>
          </a:ln>
        </p:spPr>
      </p:pic>
      <p:sp>
        <p:nvSpPr>
          <p:cNvPr descr="Life ring" id="496" name="Google Shape;496;g22f8667e090_1_9"/>
          <p:cNvSpPr/>
          <p:nvPr/>
        </p:nvSpPr>
        <p:spPr>
          <a:xfrm>
            <a:off x="9292280" y="-29433"/>
            <a:ext cx="1080300" cy="1013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22f8667e090_1_9"/>
          <p:cNvSpPr txBox="1"/>
          <p:nvPr>
            <p:ph idx="1" type="body"/>
          </p:nvPr>
        </p:nvSpPr>
        <p:spPr>
          <a:xfrm>
            <a:off x="4633575" y="171250"/>
            <a:ext cx="5739000" cy="6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-30797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-US" sz="2000"/>
              <a:t>Mr. Mckeown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4000"/>
              <a:buNone/>
            </a:pPr>
            <a:r>
              <a:t/>
            </a:r>
            <a:endParaRPr sz="2000"/>
          </a:p>
          <a:p>
            <a:pPr indent="-30797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-US" sz="2000"/>
              <a:t>Nate Abbott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4000"/>
              <a:buNone/>
            </a:pPr>
            <a:r>
              <a:t/>
            </a:r>
            <a:endParaRPr sz="2000"/>
          </a:p>
          <a:p>
            <a:pPr indent="-30797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-US" sz="2000"/>
              <a:t>Mr. Starinsky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4000"/>
              <a:buNone/>
            </a:pPr>
            <a:r>
              <a:t/>
            </a:r>
            <a:endParaRPr sz="2000"/>
          </a:p>
          <a:p>
            <a:pPr indent="-30797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-US" sz="2000"/>
              <a:t>Mrs. Axelrod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4000"/>
              <a:buNone/>
            </a:pPr>
            <a:r>
              <a:t/>
            </a:r>
            <a:endParaRPr sz="2000"/>
          </a:p>
          <a:p>
            <a:pPr indent="-30797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-US" sz="2000"/>
              <a:t>Ben and Debbie Mathews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4000"/>
              <a:buNone/>
            </a:pPr>
            <a:r>
              <a:t/>
            </a:r>
            <a:endParaRPr sz="2000"/>
          </a:p>
          <a:p>
            <a:pPr indent="-30797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-US" sz="2000"/>
              <a:t>Jinisha and Ketal Patel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4000"/>
              <a:buNone/>
            </a:pPr>
            <a:r>
              <a:t/>
            </a:r>
            <a:endParaRPr sz="2000"/>
          </a:p>
          <a:p>
            <a:pPr indent="-30797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-US" sz="2000"/>
              <a:t>Jeffrey Adair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4000"/>
              <a:buNone/>
            </a:pPr>
            <a:r>
              <a:t/>
            </a:r>
            <a:endParaRPr sz="2000"/>
          </a:p>
          <a:p>
            <a:pPr indent="-30797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-US" sz="2000"/>
              <a:t>Mr. Brown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4000"/>
              <a:buNone/>
            </a:pPr>
            <a:r>
              <a:t/>
            </a:r>
            <a:endParaRPr sz="2000"/>
          </a:p>
          <a:p>
            <a:pPr indent="-30797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-US" sz="2000"/>
              <a:t>Mrs. Ulery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4000"/>
              <a:buNone/>
            </a:pPr>
            <a:r>
              <a:t/>
            </a:r>
            <a:endParaRPr sz="2000"/>
          </a:p>
          <a:p>
            <a:pPr indent="-30797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-US" sz="2000"/>
              <a:t>The Strnad Family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4000"/>
              <a:buNone/>
            </a:pPr>
            <a:r>
              <a:t/>
            </a:r>
            <a:endParaRPr sz="2000"/>
          </a:p>
          <a:p>
            <a:pPr indent="-30797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-US" sz="2000"/>
              <a:t>Mr. Harmon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4000"/>
              <a:buNone/>
            </a:pPr>
            <a:r>
              <a:t/>
            </a:r>
            <a:endParaRPr sz="2000"/>
          </a:p>
          <a:p>
            <a:pPr indent="-30797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-US" sz="2000"/>
              <a:t>Zain Anwar and Ryan wang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4000"/>
              <a:buNone/>
            </a:pPr>
            <a:r>
              <a:t/>
            </a:r>
            <a:endParaRPr sz="2000"/>
          </a:p>
          <a:p>
            <a:pPr indent="-30797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-US" sz="2000"/>
              <a:t>Kaden Jones and Arveen Alaeddini</a:t>
            </a:r>
            <a:endParaRPr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4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8"/>
          <p:cNvSpPr/>
          <p:nvPr/>
        </p:nvSpPr>
        <p:spPr>
          <a:xfrm flipH="1" rot="10800000">
            <a:off x="441959" y="-3"/>
            <a:ext cx="11772269" cy="6868074"/>
          </a:xfrm>
          <a:prstGeom prst="rect">
            <a:avLst/>
          </a:prstGeom>
          <a:gradFill>
            <a:gsLst>
              <a:gs pos="0">
                <a:srgbClr val="1F3864">
                  <a:alpha val="82352"/>
                </a:srgbClr>
              </a:gs>
              <a:gs pos="21000">
                <a:srgbClr val="1F3864">
                  <a:alpha val="82352"/>
                </a:srgbClr>
              </a:gs>
              <a:gs pos="100000">
                <a:srgbClr val="4472C4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8"/>
          <p:cNvSpPr/>
          <p:nvPr/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rgbClr val="2F5496">
                  <a:alpha val="0"/>
                </a:srgbClr>
              </a:gs>
              <a:gs pos="99000">
                <a:srgbClr val="000000">
                  <a:alpha val="40392"/>
                </a:srgbClr>
              </a:gs>
              <a:gs pos="100000">
                <a:srgbClr val="000000">
                  <a:alpha val="40392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/>
          <p:nvPr/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0">
                <a:srgbClr val="2F5496">
                  <a:alpha val="0"/>
                </a:srgbClr>
              </a:gs>
              <a:gs pos="3000">
                <a:srgbClr val="2F5496">
                  <a:alpha val="0"/>
                </a:srgbClr>
              </a:gs>
              <a:gs pos="100000">
                <a:srgbClr val="000000">
                  <a:alpha val="72549"/>
                </a:srgbClr>
              </a:gs>
            </a:gsLst>
            <a:lin ang="17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 flipH="1" rot="5400000">
            <a:off x="4484334" y="-861824"/>
            <a:ext cx="6861931" cy="8597859"/>
          </a:xfrm>
          <a:prstGeom prst="rect">
            <a:avLst/>
          </a:prstGeom>
          <a:gradFill>
            <a:gsLst>
              <a:gs pos="0">
                <a:srgbClr val="2F5496">
                  <a:alpha val="0"/>
                </a:srgbClr>
              </a:gs>
              <a:gs pos="3000">
                <a:srgbClr val="2F5496">
                  <a:alpha val="0"/>
                </a:srgbClr>
              </a:gs>
              <a:gs pos="100000">
                <a:srgbClr val="000000">
                  <a:alpha val="26274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/>
          <p:nvPr/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rgbClr val="4472C4">
                  <a:alpha val="25490"/>
                </a:srgbClr>
              </a:gs>
              <a:gs pos="85000">
                <a:srgbClr val="8DA9DB">
                  <a:alpha val="0"/>
                </a:srgbClr>
              </a:gs>
              <a:gs pos="100000">
                <a:srgbClr val="8DA9DB">
                  <a:alpha val="0"/>
                </a:srgbClr>
              </a:gs>
            </a:gsLst>
            <a:lin ang="14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 txBox="1"/>
          <p:nvPr>
            <p:ph type="title"/>
          </p:nvPr>
        </p:nvSpPr>
        <p:spPr>
          <a:xfrm>
            <a:off x="3069650" y="818985"/>
            <a:ext cx="6714699" cy="31786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FFFFFF"/>
                </a:solidFill>
              </a:rPr>
              <a:t>Thanks</a:t>
            </a:r>
            <a:endParaRPr sz="4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8"/>
          <p:cNvSpPr/>
          <p:nvPr/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rgbClr val="2F5496">
                  <a:alpha val="49411"/>
                </a:srgbClr>
              </a:gs>
              <a:gs pos="99000">
                <a:srgbClr val="000000">
                  <a:alpha val="33333"/>
                </a:srgbClr>
              </a:gs>
              <a:gs pos="100000">
                <a:srgbClr val="000000">
                  <a:alpha val="3333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2022-10-18T03:44:30Z</dcterms:created>
  <dc:creator>Mathews, Samuel</dc:creator>
</cp:coreProperties>
</file>