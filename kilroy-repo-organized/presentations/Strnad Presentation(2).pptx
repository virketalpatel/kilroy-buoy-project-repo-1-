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9091" l="4612" r="9205" t="0"/>
          <a:stretch/>
        </p:blipFill>
        <p:spPr>
          <a:xfrm>
            <a:off x="3507781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type="ctrTitle"/>
          </p:nvPr>
        </p:nvSpPr>
        <p:spPr>
          <a:xfrm>
            <a:off x="282480" y="1079702"/>
            <a:ext cx="5140622" cy="320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4800"/>
              <a:t>Strnad Presentation: Lake Kilroy Buoy and Water Quality Project</a:t>
            </a:r>
            <a:endParaRPr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Sam Mathews and Vir Patel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77980" y="625683"/>
            <a:ext cx="707137" cy="146305"/>
          </a:xfrm>
          <a:prstGeom prst="rect">
            <a:avLst/>
          </a:prstGeom>
          <a:solidFill>
            <a:srgbClr val="8D2C3C"/>
          </a:solidFill>
          <a:ln cap="flat" cmpd="sng" w="12700">
            <a:solidFill>
              <a:srgbClr val="8D2C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Overview</a:t>
            </a:r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704046" y="2931334"/>
            <a:ext cx="10807848" cy="2555294"/>
            <a:chOff x="59990" y="818755"/>
            <a:chExt cx="10807848" cy="2555294"/>
          </a:xfrm>
        </p:grpSpPr>
        <p:sp>
          <p:nvSpPr>
            <p:cNvPr id="114" name="Google Shape;114;p16"/>
            <p:cNvSpPr/>
            <p:nvPr/>
          </p:nvSpPr>
          <p:spPr>
            <a:xfrm>
              <a:off x="947201" y="818755"/>
              <a:ext cx="1451800" cy="1451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59990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59990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Buoy</a:t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4738014" y="818755"/>
              <a:ext cx="1451800" cy="1451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3850802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3850802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Water Quality</a:t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8528826" y="818755"/>
              <a:ext cx="1451800" cy="1451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7641615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7641615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Data/Research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Buoy</a:t>
            </a:r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872163" y="2112579"/>
            <a:ext cx="10471613" cy="4190724"/>
            <a:chOff x="228107" y="0"/>
            <a:chExt cx="10471613" cy="4190724"/>
          </a:xfrm>
        </p:grpSpPr>
        <p:sp>
          <p:nvSpPr>
            <p:cNvPr id="133" name="Google Shape;133;p17"/>
            <p:cNvSpPr/>
            <p:nvPr/>
          </p:nvSpPr>
          <p:spPr>
            <a:xfrm>
              <a:off x="228107" y="2079"/>
              <a:ext cx="4188645" cy="4188645"/>
            </a:xfrm>
            <a:prstGeom prst="ellipse">
              <a:avLst/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841520" y="615492"/>
              <a:ext cx="2961819" cy="296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Create a buoy to float on Lake Kilroy</a:t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5400000">
              <a:off x="8334855" y="178017"/>
              <a:ext cx="1466025" cy="1109991"/>
            </a:xfrm>
            <a:prstGeom prst="triangle">
              <a:avLst>
                <a:gd fmla="val 50000" name="adj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6511075" y="2079"/>
              <a:ext cx="4188645" cy="4188645"/>
            </a:xfrm>
            <a:prstGeom prst="ellipse">
              <a:avLst/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7124488" y="615492"/>
              <a:ext cx="2961819" cy="296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House 2 water quality sensor units at different depths + ESP32 hardware + solar panel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Water Quality</a:t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1397999" y="2173146"/>
            <a:ext cx="9396000" cy="4087166"/>
            <a:chOff x="1397999" y="597687"/>
            <a:chExt cx="9396000" cy="4087166"/>
          </a:xfrm>
        </p:grpSpPr>
        <p:sp>
          <p:nvSpPr>
            <p:cNvPr id="148" name="Google Shape;148;p18"/>
            <p:cNvSpPr/>
            <p:nvPr/>
          </p:nvSpPr>
          <p:spPr>
            <a:xfrm>
              <a:off x="2585999" y="597687"/>
              <a:ext cx="1944000" cy="194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397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397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a sensor unit to measure pH, dissolved oxygen, conductivity, and temperature using an Atlas Scientific kit</a:t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7661999" y="597687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6473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6473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ESP32 chips to collect the data and upload the data to ThingSpeak so anyone who wants to can have access to the data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Data/Research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59489" y="3276102"/>
            <a:ext cx="8346558" cy="19032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159489" y="238603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3000">
                <a:solidFill>
                  <a:schemeClr val="lt1"/>
                </a:solidFill>
              </a:rPr>
              <a:t>Use the data to observe pond turnover in Lake Kilroy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311582" y="388642"/>
            <a:ext cx="2844800" cy="35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General Tasks and Work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311582" y="1333152"/>
            <a:ext cx="3290579" cy="5534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also established where we will place the buoy (we found the deepest part of Lake Kilroy, so we can get two distinct depths)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also construed a contraption to house the ESP32 and measured its range, so we know where to place them</a:t>
            </a:r>
            <a:endParaRPr/>
          </a:p>
        </p:txBody>
      </p:sp>
      <p:pic>
        <p:nvPicPr>
          <p:cNvPr descr="A satellite view of a city&#10;&#10;Description automatically generated with low confidence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192" y="388642"/>
            <a:ext cx="4648908" cy="371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ndoor&#10;&#10;Description automatically generated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8362394" y="3209489"/>
            <a:ext cx="2906909" cy="387587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4473181" y="405076"/>
            <a:ext cx="4648907" cy="3702689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877909" y="3708285"/>
            <a:ext cx="3895676" cy="2906911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>
            <p:ph type="title"/>
          </p:nvPr>
        </p:nvSpPr>
        <p:spPr>
          <a:xfrm>
            <a:off x="209107" y="375840"/>
            <a:ext cx="3619601" cy="2126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Buoy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2253" y="1813203"/>
            <a:ext cx="3965573" cy="3439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construction of the buoy out of PVC pipes</a:t>
            </a:r>
            <a:endParaRPr/>
          </a:p>
          <a:p>
            <a:pPr indent="-101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this point the top and bottom halves are glued separately</a:t>
            </a:r>
            <a:endParaRPr/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6933" y="216095"/>
            <a:ext cx="4432300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012" y="3283029"/>
            <a:ext cx="40132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4246933" y="216095"/>
            <a:ext cx="4432200" cy="35559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7924012" y="3264058"/>
            <a:ext cx="4013200" cy="353271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Pictures of Buoy Floating/Spray Paint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491116" y="1891970"/>
            <a:ext cx="2835965" cy="4502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Now the buoy is completely glued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has a black coated paint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can also float</a:t>
            </a:r>
            <a:endParaRPr/>
          </a:p>
        </p:txBody>
      </p:sp>
      <p:pic>
        <p:nvPicPr>
          <p:cNvPr descr="A picture containing outdoor&#10;&#10;Description automatically generated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383" y="2038435"/>
            <a:ext cx="2294075" cy="4078356"/>
          </a:xfrm>
          <a:prstGeom prst="rect">
            <a:avLst/>
          </a:prstGeom>
          <a:noFill/>
          <a:ln cap="flat" cmpd="sng" w="1016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icture containing wall, indoor, spider, arthropod&#10;&#10;Description automatically generated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569353" y="2548232"/>
            <a:ext cx="4078354" cy="3058766"/>
          </a:xfrm>
          <a:prstGeom prst="rect">
            <a:avLst/>
          </a:prstGeom>
          <a:noFill/>
          <a:ln cap="flat" cmpd="sng" w="1016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143165" y="178892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and Water Quality</a:t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0" y="1418860"/>
            <a:ext cx="4037824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the sensor unit, which is essentially all we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It has all of the probes for pH, dissolved oxygen, conductivity, and temperature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is where we have gotten stuck the most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Our coding consists of three phases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1) Meshnetwork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2) MQTT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3) Antenna/Long distance</a:t>
            </a:r>
            <a:endParaRPr/>
          </a:p>
        </p:txBody>
      </p:sp>
      <p:pic>
        <p:nvPicPr>
          <p:cNvPr descr="A group of computers on a table&#10;&#10;Description automatically generated with low confidence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14546" r="6080" t="0"/>
          <a:stretch/>
        </p:blipFill>
        <p:spPr>
          <a:xfrm rot="-5400000">
            <a:off x="5546112" y="-1055069"/>
            <a:ext cx="3575517" cy="600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4280663" y="178892"/>
            <a:ext cx="6006337" cy="3575517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1299" y="3153252"/>
            <a:ext cx="3556963" cy="35569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7861288" y="3153250"/>
            <a:ext cx="3556963" cy="3575516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Meshnetwork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238" name="Google Shape;238;p24"/>
          <p:cNvSpPr txBox="1"/>
          <p:nvPr>
            <p:ph idx="1" type="body"/>
          </p:nvPr>
        </p:nvSpPr>
        <p:spPr>
          <a:xfrm>
            <a:off x="139700" y="2379346"/>
            <a:ext cx="4434078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Our first goal was to create a meshnetwork amongst ESP32 chips to upload to Thingspeak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meshnetwork is a Bluetooth connection among chips so they can communicate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126680" y="1820231"/>
            <a:ext cx="3565696" cy="267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P-WIFI-MESH - ESP32 - — ESP-IDF Programming Guide v5.0.1 documentation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128" y="3841087"/>
            <a:ext cx="5872520" cy="29362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/>
          <p:nvPr/>
        </p:nvSpPr>
        <p:spPr>
          <a:xfrm>
            <a:off x="4573771" y="1430384"/>
            <a:ext cx="2671500" cy="34512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6234178" y="3679859"/>
            <a:ext cx="5675700" cy="30975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>
            <p:ph type="title"/>
          </p:nvPr>
        </p:nvSpPr>
        <p:spPr>
          <a:xfrm>
            <a:off x="418225" y="249230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Meshnetwork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254" name="Google Shape;254;p25"/>
          <p:cNvSpPr txBox="1"/>
          <p:nvPr>
            <p:ph idx="1" type="body"/>
          </p:nvPr>
        </p:nvSpPr>
        <p:spPr>
          <a:xfrm>
            <a:off x="136843" y="1549400"/>
            <a:ext cx="3482748" cy="53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We were able to establish a stable connection to ThingSpeak from an ESP32 and upload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We were also able to create a mesh netwwork between ESP32 chips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However there was a timing problem with the meshnetwork and ThingSpeak code since they used different timers</a:t>
            </a:r>
            <a:endParaRPr/>
          </a:p>
        </p:txBody>
      </p:sp>
      <p:pic>
        <p:nvPicPr>
          <p:cNvPr descr="Graphical user interface, application&#10;&#10;Description automatically generated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669" y="259372"/>
            <a:ext cx="5471581" cy="511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/>
          <p:nvPr/>
        </p:nvSpPr>
        <p:spPr>
          <a:xfrm>
            <a:off x="4174669" y="146314"/>
            <a:ext cx="5593800" cy="51633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computer, indoor, open&#10;&#10;Description automatically generated" id="257" name="Google Shape;2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3746" y="2533825"/>
            <a:ext cx="2304213" cy="409637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/>
          <p:nvPr/>
        </p:nvSpPr>
        <p:spPr>
          <a:xfrm>
            <a:off x="9523750" y="2512392"/>
            <a:ext cx="2304300" cy="41391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/>
          <p:nvPr/>
        </p:nvSpPr>
        <p:spPr>
          <a:xfrm>
            <a:off x="-12246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Transition to Raspberry Pi + MQTT</a:t>
            </a:r>
            <a:endParaRPr/>
          </a:p>
        </p:txBody>
      </p:sp>
      <p:pic>
        <p:nvPicPr>
          <p:cNvPr descr="A picture containing text, computer, indoor, person&#10;&#10;Description automatically generated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506" y="4033507"/>
            <a:ext cx="4842602" cy="2723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on Raspberry Pi - Raspberry Valley" id="270" name="Google Shape;2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614" y="1891970"/>
            <a:ext cx="4597400" cy="237158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49298" y="2254402"/>
            <a:ext cx="285780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we turned to a Raspberry Pi MQTT with Mosquitto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Essentially, the Raspberry Pi was a broker where the ESP32 could send data and ThingSpeak could subscribe to collect the data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not find enough code to make this work 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7221013" y="1556791"/>
            <a:ext cx="4842602" cy="2723964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987950" y="4033507"/>
            <a:ext cx="4842602" cy="2723964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 txBox="1"/>
          <p:nvPr>
            <p:ph type="title"/>
          </p:nvPr>
        </p:nvSpPr>
        <p:spPr>
          <a:xfrm>
            <a:off x="466722" y="586855"/>
            <a:ext cx="3201366" cy="11149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Code Antenna</a:t>
            </a:r>
            <a:endParaRPr/>
          </a:p>
        </p:txBody>
      </p:sp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149359" y="2311400"/>
            <a:ext cx="3518729" cy="449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Now we are going to add an antenna to the ESP32 to enhance its range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way we can directly upload to ThingSpeak without a meshnetwork or MQTT</a:t>
            </a:r>
            <a:endParaRPr/>
          </a:p>
        </p:txBody>
      </p:sp>
      <p:pic>
        <p:nvPicPr>
          <p:cNvPr descr="A picture containing person, indoor, floor&#10;&#10;Description automatically generated" id="287" name="Google Shape;2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548" y="586855"/>
            <a:ext cx="7265324" cy="408674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/>
          <p:nvPr/>
        </p:nvSpPr>
        <p:spPr>
          <a:xfrm>
            <a:off x="4504548" y="511388"/>
            <a:ext cx="7265324" cy="4172353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Next Year</a:t>
            </a:r>
            <a:endParaRPr/>
          </a:p>
        </p:txBody>
      </p:sp>
      <p:sp>
        <p:nvSpPr>
          <p:cNvPr id="301" name="Google Shape;301;p28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Vir will continue this project next year with data research and completion of the buoy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9"/>
          <p:cNvSpPr/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 flipH="1" rot="10800000">
            <a:off x="441959" y="-3"/>
            <a:ext cx="11772269" cy="6868074"/>
          </a:xfrm>
          <a:prstGeom prst="rect">
            <a:avLst/>
          </a:prstGeom>
          <a:gradFill>
            <a:gsLst>
              <a:gs pos="0">
                <a:srgbClr val="1F3864">
                  <a:alpha val="82745"/>
                </a:srgbClr>
              </a:gs>
              <a:gs pos="21000">
                <a:srgbClr val="1F3864">
                  <a:alpha val="82745"/>
                </a:srgbClr>
              </a:gs>
              <a:gs pos="100000">
                <a:srgbClr val="4472C4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3000">
                <a:srgbClr val="2F5496">
                  <a:alpha val="0"/>
                </a:srgbClr>
              </a:gs>
              <a:gs pos="100000">
                <a:srgbClr val="000000">
                  <a:alpha val="72941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9"/>
          <p:cNvSpPr/>
          <p:nvPr/>
        </p:nvSpPr>
        <p:spPr>
          <a:xfrm flipH="1" rot="5400000">
            <a:off x="4484334" y="-861824"/>
            <a:ext cx="6861931" cy="8597859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3000">
                <a:srgbClr val="2F5496">
                  <a:alpha val="0"/>
                </a:srgbClr>
              </a:gs>
              <a:gs pos="100000">
                <a:srgbClr val="000000">
                  <a:alpha val="26666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rgbClr val="4472C4">
                  <a:alpha val="25882"/>
                </a:srgbClr>
              </a:gs>
              <a:gs pos="85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 txBox="1"/>
          <p:nvPr>
            <p:ph type="title"/>
          </p:nvPr>
        </p:nvSpPr>
        <p:spPr>
          <a:xfrm>
            <a:off x="3069650" y="818985"/>
            <a:ext cx="6714699" cy="3178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</a:rPr>
              <a:t>Thanks</a:t>
            </a:r>
            <a:endParaRPr sz="4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rgbClr val="2F5496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